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68F6AB-732A-F842-6955-1F2C9C990983}" v="794" dt="2026-04-01T09:27:05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iel COBBINAH" userId="S::nathaniel.cobbinah@ecole-isitech.fr::48c4066d-ab36-4466-9e68-2de778de1537" providerId="AD" clId="Web-{FF68F6AB-732A-F842-6955-1F2C9C990983}"/>
    <pc:docChg chg="addSld modSld sldOrd">
      <pc:chgData name="Nathaniel COBBINAH" userId="S::nathaniel.cobbinah@ecole-isitech.fr::48c4066d-ab36-4466-9e68-2de778de1537" providerId="AD" clId="Web-{FF68F6AB-732A-F842-6955-1F2C9C990983}" dt="2026-04-01T09:27:05.957" v="777"/>
      <pc:docMkLst>
        <pc:docMk/>
      </pc:docMkLst>
      <pc:sldChg chg="modSp">
        <pc:chgData name="Nathaniel COBBINAH" userId="S::nathaniel.cobbinah@ecole-isitech.fr::48c4066d-ab36-4466-9e68-2de778de1537" providerId="AD" clId="Web-{FF68F6AB-732A-F842-6955-1F2C9C990983}" dt="2026-04-01T07:42:04.966" v="136" actId="20577"/>
        <pc:sldMkLst>
          <pc:docMk/>
          <pc:sldMk cId="0" sldId="261"/>
        </pc:sldMkLst>
        <pc:spChg chg="mod">
          <ac:chgData name="Nathaniel COBBINAH" userId="S::nathaniel.cobbinah@ecole-isitech.fr::48c4066d-ab36-4466-9e68-2de778de1537" providerId="AD" clId="Web-{FF68F6AB-732A-F842-6955-1F2C9C990983}" dt="2026-04-01T07:42:04.966" v="136" actId="20577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 setBg">
        <pc:chgData name="Nathaniel COBBINAH" userId="S::nathaniel.cobbinah@ecole-isitech.fr::48c4066d-ab36-4466-9e68-2de778de1537" providerId="AD" clId="Web-{FF68F6AB-732A-F842-6955-1F2C9C990983}" dt="2026-04-01T07:55:17.284" v="556"/>
        <pc:sldMkLst>
          <pc:docMk/>
          <pc:sldMk cId="0" sldId="262"/>
        </pc:sldMkLst>
        <pc:spChg chg="mod">
          <ac:chgData name="Nathaniel COBBINAH" userId="S::nathaniel.cobbinah@ecole-isitech.fr::48c4066d-ab36-4466-9e68-2de778de1537" providerId="AD" clId="Web-{FF68F6AB-732A-F842-6955-1F2C9C990983}" dt="2026-04-01T07:55:17.284" v="55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Nathaniel COBBINAH" userId="S::nathaniel.cobbinah@ecole-isitech.fr::48c4066d-ab36-4466-9e68-2de778de1537" providerId="AD" clId="Web-{FF68F6AB-732A-F842-6955-1F2C9C990983}" dt="2026-04-01T07:54:57.534" v="551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Nathaniel COBBINAH" userId="S::nathaniel.cobbinah@ecole-isitech.fr::48c4066d-ab36-4466-9e68-2de778de1537" providerId="AD" clId="Web-{FF68F6AB-732A-F842-6955-1F2C9C990983}" dt="2026-04-01T07:55:14.238" v="553"/>
          <ac:spMkLst>
            <pc:docMk/>
            <pc:sldMk cId="0" sldId="262"/>
            <ac:spMk id="10" creationId="{A4AC5506-6312-4701-8D3C-40187889A947}"/>
          </ac:spMkLst>
        </pc:spChg>
        <pc:spChg chg="add del">
          <ac:chgData name="Nathaniel COBBINAH" userId="S::nathaniel.cobbinah@ecole-isitech.fr::48c4066d-ab36-4466-9e68-2de778de1537" providerId="AD" clId="Web-{FF68F6AB-732A-F842-6955-1F2C9C990983}" dt="2026-04-01T07:55:17.269" v="555"/>
          <ac:spMkLst>
            <pc:docMk/>
            <pc:sldMk cId="0" sldId="262"/>
            <ac:spMk id="12" creationId="{B2D4AD41-40DA-4A81-92F5-B6E3BA1ED82A}"/>
          </ac:spMkLst>
        </pc:spChg>
        <pc:spChg chg="add del">
          <ac:chgData name="Nathaniel COBBINAH" userId="S::nathaniel.cobbinah@ecole-isitech.fr::48c4066d-ab36-4466-9e68-2de778de1537" providerId="AD" clId="Web-{FF68F6AB-732A-F842-6955-1F2C9C990983}" dt="2026-04-01T07:55:17.269" v="555"/>
          <ac:spMkLst>
            <pc:docMk/>
            <pc:sldMk cId="0" sldId="262"/>
            <ac:spMk id="13" creationId="{7DA1F35B-C8F7-4A5A-9339-7DA4D785B300}"/>
          </ac:spMkLst>
        </pc:spChg>
        <pc:spChg chg="add">
          <ac:chgData name="Nathaniel COBBINAH" userId="S::nathaniel.cobbinah@ecole-isitech.fr::48c4066d-ab36-4466-9e68-2de778de1537" providerId="AD" clId="Web-{FF68F6AB-732A-F842-6955-1F2C9C990983}" dt="2026-04-01T07:55:17.284" v="556"/>
          <ac:spMkLst>
            <pc:docMk/>
            <pc:sldMk cId="0" sldId="262"/>
            <ac:spMk id="15" creationId="{A4AC5506-6312-4701-8D3C-40187889A947}"/>
          </ac:spMkLst>
        </pc:spChg>
        <pc:graphicFrameChg chg="add mod ord modGraphic">
          <ac:chgData name="Nathaniel COBBINAH" userId="S::nathaniel.cobbinah@ecole-isitech.fr::48c4066d-ab36-4466-9e68-2de778de1537" providerId="AD" clId="Web-{FF68F6AB-732A-F842-6955-1F2C9C990983}" dt="2026-04-01T07:55:17.284" v="556"/>
          <ac:graphicFrameMkLst>
            <pc:docMk/>
            <pc:sldMk cId="0" sldId="262"/>
            <ac:graphicFrameMk id="5" creationId="{53EBD506-6732-B41B-7553-859080CF5723}"/>
          </ac:graphicFrameMkLst>
        </pc:graphicFrameChg>
      </pc:sldChg>
      <pc:sldChg chg="modSp add replId">
        <pc:chgData name="Nathaniel COBBINAH" userId="S::nathaniel.cobbinah@ecole-isitech.fr::48c4066d-ab36-4466-9e68-2de778de1537" providerId="AD" clId="Web-{FF68F6AB-732A-F842-6955-1F2C9C990983}" dt="2026-04-01T07:44:41.614" v="246" actId="20577"/>
        <pc:sldMkLst>
          <pc:docMk/>
          <pc:sldMk cId="2969118917" sldId="265"/>
        </pc:sldMkLst>
        <pc:spChg chg="mod">
          <ac:chgData name="Nathaniel COBBINAH" userId="S::nathaniel.cobbinah@ecole-isitech.fr::48c4066d-ab36-4466-9e68-2de778de1537" providerId="AD" clId="Web-{FF68F6AB-732A-F842-6955-1F2C9C990983}" dt="2026-04-01T07:44:41.614" v="246" actId="20577"/>
          <ac:spMkLst>
            <pc:docMk/>
            <pc:sldMk cId="2969118917" sldId="265"/>
            <ac:spMk id="3" creationId="{8ACE5269-4D3B-2018-1C36-24AC7BE3121C}"/>
          </ac:spMkLst>
        </pc:spChg>
      </pc:sldChg>
      <pc:sldChg chg="modSp add">
        <pc:chgData name="Nathaniel COBBINAH" userId="S::nathaniel.cobbinah@ecole-isitech.fr::48c4066d-ab36-4466-9e68-2de778de1537" providerId="AD" clId="Web-{FF68F6AB-732A-F842-6955-1F2C9C990983}" dt="2026-04-01T07:48:47.184" v="395" actId="20577"/>
        <pc:sldMkLst>
          <pc:docMk/>
          <pc:sldMk cId="3972798914" sldId="266"/>
        </pc:sldMkLst>
        <pc:spChg chg="mod">
          <ac:chgData name="Nathaniel COBBINAH" userId="S::nathaniel.cobbinah@ecole-isitech.fr::48c4066d-ab36-4466-9e68-2de778de1537" providerId="AD" clId="Web-{FF68F6AB-732A-F842-6955-1F2C9C990983}" dt="2026-04-01T07:48:47.184" v="395" actId="20577"/>
          <ac:spMkLst>
            <pc:docMk/>
            <pc:sldMk cId="3972798914" sldId="266"/>
            <ac:spMk id="3" creationId="{8ACE5269-4D3B-2018-1C36-24AC7BE3121C}"/>
          </ac:spMkLst>
        </pc:spChg>
      </pc:sldChg>
      <pc:sldChg chg="modSp add replId">
        <pc:chgData name="Nathaniel COBBINAH" userId="S::nathaniel.cobbinah@ecole-isitech.fr::48c4066d-ab36-4466-9e68-2de778de1537" providerId="AD" clId="Web-{FF68F6AB-732A-F842-6955-1F2C9C990983}" dt="2026-04-01T07:52:26.064" v="548" actId="20577"/>
        <pc:sldMkLst>
          <pc:docMk/>
          <pc:sldMk cId="1607906094" sldId="267"/>
        </pc:sldMkLst>
        <pc:spChg chg="mod">
          <ac:chgData name="Nathaniel COBBINAH" userId="S::nathaniel.cobbinah@ecole-isitech.fr::48c4066d-ab36-4466-9e68-2de778de1537" providerId="AD" clId="Web-{FF68F6AB-732A-F842-6955-1F2C9C990983}" dt="2026-04-01T07:52:26.064" v="548" actId="20577"/>
          <ac:spMkLst>
            <pc:docMk/>
            <pc:sldMk cId="1607906094" sldId="267"/>
            <ac:spMk id="3" creationId="{A6ADC1BD-AFDF-8CAC-6899-02FC62E221B0}"/>
          </ac:spMkLst>
        </pc:spChg>
      </pc:sldChg>
      <pc:sldChg chg="modSp add ord replId">
        <pc:chgData name="Nathaniel COBBINAH" userId="S::nathaniel.cobbinah@ecole-isitech.fr::48c4066d-ab36-4466-9e68-2de778de1537" providerId="AD" clId="Web-{FF68F6AB-732A-F842-6955-1F2C9C990983}" dt="2026-04-01T09:27:05.957" v="777"/>
        <pc:sldMkLst>
          <pc:docMk/>
          <pc:sldMk cId="2777071068" sldId="268"/>
        </pc:sldMkLst>
        <pc:spChg chg="mod">
          <ac:chgData name="Nathaniel COBBINAH" userId="S::nathaniel.cobbinah@ecole-isitech.fr::48c4066d-ab36-4466-9e68-2de778de1537" providerId="AD" clId="Web-{FF68F6AB-732A-F842-6955-1F2C9C990983}" dt="2026-04-01T09:25:53.800" v="744" actId="1076"/>
          <ac:spMkLst>
            <pc:docMk/>
            <pc:sldMk cId="2777071068" sldId="268"/>
            <ac:spMk id="2" creationId="{6F75103D-D17B-10DC-6A91-7AC4FE96366A}"/>
          </ac:spMkLst>
        </pc:spChg>
        <pc:graphicFrameChg chg="mod modGraphic">
          <ac:chgData name="Nathaniel COBBINAH" userId="S::nathaniel.cobbinah@ecole-isitech.fr::48c4066d-ab36-4466-9e68-2de778de1537" providerId="AD" clId="Web-{FF68F6AB-732A-F842-6955-1F2C9C990983}" dt="2026-04-01T09:26:47.191" v="776"/>
          <ac:graphicFrameMkLst>
            <pc:docMk/>
            <pc:sldMk cId="2777071068" sldId="268"/>
            <ac:graphicFrameMk id="5" creationId="{D850B20C-4294-2971-B4C9-BF3C4484298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e-Scooter : mobilité connectée</a:t>
            </a:r>
          </a:p>
          <a:p>
            <a:r>
              <a:t>Cloud AWS + blockchain</a:t>
            </a:r>
          </a:p>
          <a:p>
            <a:r>
              <a:t>Problèmes sécurité majeurs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Périmètre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mobile</a:t>
            </a:r>
          </a:p>
          <a:p>
            <a:r>
              <a:t>Cloud</a:t>
            </a:r>
          </a:p>
          <a:p>
            <a:r>
              <a:t>Blockchain</a:t>
            </a:r>
          </a:p>
          <a:p>
            <a:r>
              <a:t>Paiement ITBank</a:t>
            </a:r>
          </a:p>
          <a:p>
            <a:r>
              <a:t>Scooters IoT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Risques principaux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Fuite données</a:t>
            </a:r>
          </a:p>
          <a:p>
            <a:r>
              <a:t>DDoS</a:t>
            </a:r>
          </a:p>
          <a:p>
            <a:r>
              <a:t>Vol scooters</a:t>
            </a:r>
          </a:p>
          <a:p>
            <a:r>
              <a:t>Faille zero-day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Méthode EBIOS 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Analyse risques</a:t>
            </a:r>
          </a:p>
          <a:p>
            <a:r>
              <a:t>SR/OV</a:t>
            </a:r>
          </a:p>
          <a:p>
            <a:r>
              <a:t>Menaces</a:t>
            </a:r>
          </a:p>
          <a:p>
            <a:r>
              <a:t>Scénarios</a:t>
            </a:r>
          </a:p>
          <a:p>
            <a:r>
              <a:t>Matrice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Hackers</a:t>
            </a:r>
          </a:p>
          <a:p>
            <a:r>
              <a:t>Erreurs internes</a:t>
            </a:r>
          </a:p>
          <a:p>
            <a:r>
              <a:t>Vol physique</a:t>
            </a:r>
          </a:p>
          <a:p>
            <a:r>
              <a:t>Dépendance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Vol de </a:t>
            </a:r>
            <a:r>
              <a:rPr lang="en-US">
                <a:latin typeface="Calibri"/>
                <a:ea typeface="Calibri"/>
                <a:cs typeface="Calibri"/>
              </a:rPr>
              <a:t>données clients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SR: </a:t>
            </a:r>
            <a:r>
              <a:rPr lang="en-US">
                <a:ea typeface="Calibri"/>
                <a:cs typeface="Calibri"/>
              </a:rPr>
              <a:t>Cybercriminal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OV: </a:t>
            </a:r>
            <a:r>
              <a:rPr lang="en-US" dirty="0" err="1">
                <a:ea typeface="Calibri"/>
                <a:cs typeface="Calibri"/>
              </a:rPr>
              <a:t>Voler</a:t>
            </a:r>
            <a:r>
              <a:rPr lang="en-US" dirty="0">
                <a:ea typeface="Calibri"/>
                <a:cs typeface="Calibri"/>
              </a:rPr>
              <a:t> des données  et les </a:t>
            </a:r>
            <a:r>
              <a:rPr lang="en-US" dirty="0" err="1">
                <a:ea typeface="Calibri"/>
                <a:cs typeface="Calibri"/>
              </a:rPr>
              <a:t>monétiser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Cybercriminal -&gt; Application mobile </a:t>
            </a:r>
            <a:r>
              <a:rPr lang="en-US" dirty="0" err="1">
                <a:ea typeface="Calibri"/>
                <a:cs typeface="Calibri"/>
              </a:rPr>
              <a:t>vulnérable</a:t>
            </a:r>
            <a:r>
              <a:rPr lang="en-US" dirty="0">
                <a:ea typeface="Calibri"/>
                <a:cs typeface="Calibri"/>
              </a:rPr>
              <a:t>    -&gt; </a:t>
            </a:r>
            <a:r>
              <a:rPr lang="en-US" dirty="0" err="1">
                <a:ea typeface="Calibri"/>
                <a:cs typeface="Calibri"/>
              </a:rPr>
              <a:t>Serveur</a:t>
            </a:r>
            <a:r>
              <a:rPr lang="en-US" dirty="0">
                <a:ea typeface="Calibri"/>
                <a:cs typeface="Calibri"/>
              </a:rPr>
              <a:t> cloud principal -&gt; Base de données  client -&gt; </a:t>
            </a:r>
            <a:r>
              <a:rPr lang="en-US" dirty="0" err="1">
                <a:ea typeface="Calibri"/>
                <a:cs typeface="Calibri"/>
              </a:rPr>
              <a:t>Fuite</a:t>
            </a:r>
            <a:r>
              <a:rPr lang="en-US" dirty="0">
                <a:ea typeface="Calibri"/>
                <a:cs typeface="Calibri"/>
              </a:rPr>
              <a:t> de données  </a:t>
            </a:r>
            <a:r>
              <a:rPr lang="en-US" dirty="0" err="1">
                <a:ea typeface="Calibri"/>
                <a:cs typeface="Calibri"/>
              </a:rPr>
              <a:t>personnelles</a:t>
            </a:r>
            <a:r>
              <a:rPr lang="en-US" dirty="0">
                <a:ea typeface="Calibri"/>
                <a:cs typeface="Calibri"/>
              </a:rPr>
              <a:t> et </a:t>
            </a:r>
            <a:r>
              <a:rPr lang="en-US" dirty="0" err="1">
                <a:ea typeface="Calibri"/>
                <a:cs typeface="Calibri"/>
              </a:rPr>
              <a:t>financières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7005E-0E33-441F-E86F-8EDE28B1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EBF4-676E-B10F-DAC7-ECFDABD19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E5269-4D3B-2018-1C36-24AC7BE31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Interruption du Service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SR: </a:t>
            </a:r>
            <a:r>
              <a:rPr lang="en-US" dirty="0" err="1">
                <a:ea typeface="Calibri"/>
                <a:cs typeface="Calibri"/>
              </a:rPr>
              <a:t>Hacktivisite</a:t>
            </a:r>
            <a:r>
              <a:rPr lang="en-US" dirty="0">
                <a:ea typeface="Calibri"/>
                <a:cs typeface="Calibri"/>
              </a:rPr>
              <a:t> / </a:t>
            </a:r>
            <a:r>
              <a:rPr lang="en-US" dirty="0" err="1">
                <a:ea typeface="Calibri"/>
                <a:cs typeface="Calibri"/>
              </a:rPr>
              <a:t>extorqueur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OV: </a:t>
            </a:r>
            <a:r>
              <a:rPr lang="en-US" dirty="0" err="1">
                <a:ea typeface="Calibri"/>
                <a:cs typeface="Calibri"/>
              </a:rPr>
              <a:t>Rendre</a:t>
            </a:r>
            <a:r>
              <a:rPr lang="en-US" dirty="0">
                <a:ea typeface="Calibri"/>
                <a:cs typeface="Calibri"/>
              </a:rPr>
              <a:t> le service </a:t>
            </a:r>
            <a:r>
              <a:rPr lang="en-US" dirty="0" err="1">
                <a:ea typeface="Calibri"/>
                <a:cs typeface="Calibri"/>
              </a:rPr>
              <a:t>indisponibl</a:t>
            </a:r>
            <a:r>
              <a:rPr lang="en-US" dirty="0">
                <a:ea typeface="Calibri"/>
                <a:cs typeface="Calibri"/>
              </a:rPr>
              <a:t>e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 err="1">
                <a:ea typeface="Calibri"/>
                <a:cs typeface="Calibri"/>
              </a:rPr>
              <a:t>Attaquant</a:t>
            </a:r>
            <a:r>
              <a:rPr lang="en-US" dirty="0">
                <a:ea typeface="Calibri"/>
                <a:cs typeface="Calibri"/>
              </a:rPr>
              <a:t> -&gt; Infrastructure cloud </a:t>
            </a:r>
            <a:r>
              <a:rPr lang="en-US" dirty="0" err="1">
                <a:ea typeface="Calibri"/>
                <a:cs typeface="Calibri"/>
              </a:rPr>
              <a:t>exposée</a:t>
            </a:r>
            <a:r>
              <a:rPr lang="en-US" dirty="0">
                <a:ea typeface="Calibri"/>
                <a:cs typeface="Calibri"/>
              </a:rPr>
              <a:t> -&gt; Saturation / DDoS -&gt; Backend </a:t>
            </a:r>
            <a:r>
              <a:rPr lang="en-US" dirty="0" err="1">
                <a:ea typeface="Calibri"/>
                <a:cs typeface="Calibri"/>
              </a:rPr>
              <a:t>indisponible</a:t>
            </a:r>
            <a:r>
              <a:rPr lang="en-US" dirty="0">
                <a:ea typeface="Calibri"/>
                <a:cs typeface="Calibri"/>
              </a:rPr>
              <a:t> -&gt; </a:t>
            </a:r>
            <a:r>
              <a:rPr lang="en-US" dirty="0" err="1">
                <a:ea typeface="Calibri"/>
                <a:cs typeface="Calibri"/>
              </a:rPr>
              <a:t>Arrêt</a:t>
            </a:r>
            <a:r>
              <a:rPr lang="en-US" dirty="0">
                <a:ea typeface="Calibri"/>
                <a:cs typeface="Calibri"/>
              </a:rPr>
              <a:t> du service de location et de </a:t>
            </a:r>
            <a:r>
              <a:rPr lang="en-US" dirty="0" err="1">
                <a:ea typeface="Calibri"/>
                <a:cs typeface="Calibri"/>
              </a:rPr>
              <a:t>paiement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969118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7005E-0E33-441F-E86F-8EDE28B1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EBF4-676E-B10F-DAC7-ECFDABD19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E5269-4D3B-2018-1C36-24AC7BE31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Détournement</a:t>
            </a:r>
            <a:r>
              <a:rPr lang="en-US" dirty="0"/>
              <a:t> de scooters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SR: </a:t>
            </a:r>
            <a:r>
              <a:rPr lang="en-US" dirty="0" err="1">
                <a:ea typeface="Calibri"/>
                <a:cs typeface="Calibri"/>
              </a:rPr>
              <a:t>Attaquant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opportuniste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OV: </a:t>
            </a:r>
            <a:r>
              <a:rPr lang="en-US" dirty="0" err="1">
                <a:ea typeface="Calibri"/>
                <a:cs typeface="Calibri"/>
              </a:rPr>
              <a:t>S'approprier</a:t>
            </a:r>
            <a:r>
              <a:rPr lang="en-US" dirty="0">
                <a:ea typeface="Calibri"/>
                <a:cs typeface="Calibri"/>
              </a:rPr>
              <a:t> les scooters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 err="1">
                <a:ea typeface="Calibri"/>
                <a:cs typeface="Calibri"/>
              </a:rPr>
              <a:t>Attaquant</a:t>
            </a:r>
            <a:r>
              <a:rPr lang="en-US" dirty="0">
                <a:ea typeface="Calibri"/>
                <a:cs typeface="Calibri"/>
              </a:rPr>
              <a:t> -&gt; Carte mère / firmware / GPS -&gt; Perte de communication avec le SI -&gt; Perte de </a:t>
            </a:r>
            <a:r>
              <a:rPr lang="en-US" dirty="0" err="1">
                <a:ea typeface="Calibri"/>
                <a:cs typeface="Calibri"/>
              </a:rPr>
              <a:t>controle</a:t>
            </a:r>
            <a:r>
              <a:rPr lang="en-US" dirty="0">
                <a:ea typeface="Calibri"/>
                <a:cs typeface="Calibri"/>
              </a:rPr>
              <a:t> sur la </a:t>
            </a:r>
            <a:r>
              <a:rPr lang="en-US" dirty="0" err="1">
                <a:ea typeface="Calibri"/>
                <a:cs typeface="Calibri"/>
              </a:rPr>
              <a:t>flotte</a:t>
            </a:r>
          </a:p>
        </p:txBody>
      </p:sp>
    </p:spTree>
    <p:extLst>
      <p:ext uri="{BB962C8B-B14F-4D97-AF65-F5344CB8AC3E}">
        <p14:creationId xmlns:p14="http://schemas.microsoft.com/office/powerpoint/2010/main" val="3972798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41286-9906-AF7C-30A9-0C6B60FB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7F01-527C-7D45-5479-816CDC36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DC1BD-AFDF-8CAC-6899-02FC62E22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Compromission via un tiers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SR: </a:t>
            </a:r>
            <a:r>
              <a:rPr lang="en-US" dirty="0" err="1">
                <a:ea typeface="Calibri"/>
                <a:cs typeface="Calibri"/>
              </a:rPr>
              <a:t>Attaquant</a:t>
            </a:r>
            <a:r>
              <a:rPr lang="en-US" dirty="0">
                <a:ea typeface="Calibri"/>
                <a:cs typeface="Calibri"/>
              </a:rPr>
              <a:t> externe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OV: </a:t>
            </a:r>
            <a:r>
              <a:rPr lang="en-US" dirty="0" err="1">
                <a:ea typeface="Calibri"/>
                <a:cs typeface="Calibri"/>
              </a:rPr>
              <a:t>Rebond</a:t>
            </a:r>
            <a:r>
              <a:rPr lang="en-US" dirty="0">
                <a:ea typeface="Calibri"/>
                <a:cs typeface="Calibri"/>
              </a:rPr>
              <a:t> via un </a:t>
            </a:r>
            <a:r>
              <a:rPr lang="en-US" dirty="0" err="1">
                <a:ea typeface="Calibri"/>
                <a:cs typeface="Calibri"/>
              </a:rPr>
              <a:t>prestataire</a:t>
            </a:r>
            <a:r>
              <a:rPr lang="en-US" dirty="0">
                <a:ea typeface="Calibri"/>
                <a:cs typeface="Calibri"/>
              </a:rPr>
              <a:t> critique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 err="1">
                <a:ea typeface="Calibri"/>
                <a:cs typeface="Calibri"/>
              </a:rPr>
              <a:t>Attaquant</a:t>
            </a:r>
            <a:r>
              <a:rPr lang="en-US" dirty="0">
                <a:ea typeface="Calibri"/>
                <a:cs typeface="Calibri"/>
              </a:rPr>
              <a:t> -&gt; </a:t>
            </a:r>
            <a:r>
              <a:rPr lang="en-US" dirty="0" err="1">
                <a:ea typeface="Calibri"/>
                <a:cs typeface="Calibri"/>
              </a:rPr>
              <a:t>ITBank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ou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cha</a:t>
            </a:r>
            <a:r>
              <a:rPr lang="en-US" dirty="0" err="1">
                <a:latin typeface="Calibri"/>
                <a:ea typeface="Calibri"/>
                <a:cs typeface="Calibri"/>
              </a:rPr>
              <a:t>î</a:t>
            </a:r>
            <a:r>
              <a:rPr lang="en-US" dirty="0" err="1">
                <a:ea typeface="Calibri"/>
                <a:cs typeface="Calibri"/>
              </a:rPr>
              <a:t>ne</a:t>
            </a:r>
            <a:r>
              <a:rPr lang="en-US" dirty="0">
                <a:ea typeface="Calibri"/>
                <a:cs typeface="Calibri"/>
              </a:rPr>
              <a:t> API / </a:t>
            </a:r>
            <a:r>
              <a:rPr lang="en-US" dirty="0" err="1">
                <a:ea typeface="Calibri"/>
                <a:cs typeface="Calibri"/>
              </a:rPr>
              <a:t>prestataire</a:t>
            </a:r>
            <a:r>
              <a:rPr lang="en-US" dirty="0">
                <a:ea typeface="Calibri"/>
                <a:cs typeface="Calibri"/>
              </a:rPr>
              <a:t> -&gt; </a:t>
            </a:r>
            <a:r>
              <a:rPr lang="en-US" dirty="0" err="1">
                <a:ea typeface="Calibri"/>
                <a:cs typeface="Calibri"/>
              </a:rPr>
              <a:t>Accès</a:t>
            </a:r>
            <a:r>
              <a:rPr lang="en-US" dirty="0">
                <a:ea typeface="Calibri"/>
                <a:cs typeface="Calibri"/>
              </a:rPr>
              <a:t> aux flux métier </a:t>
            </a:r>
            <a:r>
              <a:rPr lang="en-US" dirty="0" err="1">
                <a:ea typeface="Calibri"/>
                <a:cs typeface="Calibri"/>
              </a:rPr>
              <a:t>ou</a:t>
            </a:r>
            <a:r>
              <a:rPr lang="en-US" dirty="0">
                <a:ea typeface="Calibri"/>
                <a:cs typeface="Calibri"/>
              </a:rPr>
              <a:t> données -&gt; </a:t>
            </a:r>
            <a:r>
              <a:rPr lang="en-US" dirty="0" err="1">
                <a:ea typeface="Calibri"/>
                <a:cs typeface="Calibri"/>
              </a:rPr>
              <a:t>Atteinte</a:t>
            </a:r>
            <a:r>
              <a:rPr lang="en-US" dirty="0">
                <a:ea typeface="Calibri"/>
                <a:cs typeface="Calibri"/>
              </a:rPr>
              <a:t> au </a:t>
            </a:r>
            <a:r>
              <a:rPr lang="en-US" dirty="0" err="1">
                <a:ea typeface="Calibri"/>
                <a:cs typeface="Calibri"/>
              </a:rPr>
              <a:t>paiement</a:t>
            </a:r>
            <a:r>
              <a:rPr lang="en-US" dirty="0">
                <a:ea typeface="Calibri"/>
                <a:cs typeface="Calibri"/>
              </a:rPr>
              <a:t>, aux </a:t>
            </a:r>
            <a:r>
              <a:rPr lang="en-US" dirty="0" err="1">
                <a:ea typeface="Calibri"/>
                <a:cs typeface="Calibri"/>
              </a:rPr>
              <a:t>revenus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ou</a:t>
            </a:r>
            <a:r>
              <a:rPr lang="en-US" dirty="0">
                <a:ea typeface="Calibri"/>
                <a:cs typeface="Calibri"/>
              </a:rPr>
              <a:t> aux données </a:t>
            </a:r>
          </a:p>
        </p:txBody>
      </p:sp>
    </p:spTree>
    <p:extLst>
      <p:ext uri="{BB962C8B-B14F-4D97-AF65-F5344CB8AC3E}">
        <p14:creationId xmlns:p14="http://schemas.microsoft.com/office/powerpoint/2010/main" val="1607906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E01F9-9CE2-6642-589F-48A03576B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DDD15EC-39D2-E1EA-AB86-AE8362654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5103D-D17B-10DC-6A91-7AC4FE96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49" y="643467"/>
            <a:ext cx="8375443" cy="73828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>
              <a:lnSpc>
                <a:spcPct val="90000"/>
              </a:lnSpc>
            </a:pPr>
            <a:br>
              <a:rPr lang="en-US" sz="2800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en-US" sz="2800" dirty="0" err="1">
                <a:solidFill>
                  <a:schemeClr val="bg1"/>
                </a:solidFill>
                <a:ea typeface="+mj-lt"/>
                <a:cs typeface="+mj-lt"/>
              </a:rPr>
              <a:t>Échelle</a:t>
            </a:r>
            <a:r>
              <a:rPr lang="en-US" sz="2800" dirty="0">
                <a:solidFill>
                  <a:schemeClr val="bg1"/>
                </a:solidFill>
                <a:ea typeface="+mj-lt"/>
                <a:cs typeface="+mj-lt"/>
              </a:rPr>
              <a:t> de </a:t>
            </a:r>
            <a:r>
              <a:rPr lang="en-US" sz="2800" dirty="0" err="1">
                <a:solidFill>
                  <a:schemeClr val="bg1"/>
                </a:solidFill>
                <a:ea typeface="+mj-lt"/>
                <a:cs typeface="+mj-lt"/>
              </a:rPr>
              <a:t>gravité</a:t>
            </a:r>
            <a:r>
              <a:rPr lang="en-US" sz="2800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en-US" sz="2800" dirty="0" err="1">
                <a:solidFill>
                  <a:schemeClr val="bg1"/>
                </a:solidFill>
                <a:ea typeface="+mj-lt"/>
                <a:cs typeface="+mj-lt"/>
              </a:rPr>
              <a:t>validée</a:t>
            </a:r>
            <a:r>
              <a:rPr lang="en-US" sz="2800" dirty="0">
                <a:solidFill>
                  <a:schemeClr val="bg1"/>
                </a:solidFill>
                <a:ea typeface="+mj-lt"/>
                <a:cs typeface="+mj-lt"/>
              </a:rPr>
              <a:t> pour le </a:t>
            </a:r>
            <a:r>
              <a:rPr lang="en-US" sz="2800" dirty="0" err="1">
                <a:solidFill>
                  <a:schemeClr val="bg1"/>
                </a:solidFill>
                <a:ea typeface="+mj-lt"/>
                <a:cs typeface="+mj-lt"/>
              </a:rPr>
              <a:t>projet</a:t>
            </a:r>
            <a:r>
              <a:rPr lang="en-US" sz="2800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br>
              <a:rPr lang="en-US" sz="2800" dirty="0">
                <a:solidFill>
                  <a:schemeClr val="bg1"/>
                </a:solidFill>
                <a:ea typeface="+mj-lt"/>
                <a:cs typeface="+mj-lt"/>
              </a:rPr>
            </a:br>
            <a:endParaRPr lang="en-US" sz="2800" dirty="0">
              <a:solidFill>
                <a:schemeClr val="bg1"/>
              </a:solidFill>
              <a:ea typeface="+mj-lt"/>
              <a:cs typeface="+mj-lt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50B20C-4294-2971-B4C9-BF3C448429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0798774"/>
              </p:ext>
            </p:extLst>
          </p:nvPr>
        </p:nvGraphicFramePr>
        <p:xfrm>
          <a:off x="471610" y="1441031"/>
          <a:ext cx="8350424" cy="541094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235770">
                  <a:extLst>
                    <a:ext uri="{9D8B030D-6E8A-4147-A177-3AD203B41FA5}">
                      <a16:colId xmlns:a16="http://schemas.microsoft.com/office/drawing/2014/main" val="4130759809"/>
                    </a:ext>
                  </a:extLst>
                </a:gridCol>
                <a:gridCol w="5114654">
                  <a:extLst>
                    <a:ext uri="{9D8B030D-6E8A-4147-A177-3AD203B41FA5}">
                      <a16:colId xmlns:a16="http://schemas.microsoft.com/office/drawing/2014/main" val="3321523027"/>
                    </a:ext>
                  </a:extLst>
                </a:gridCol>
              </a:tblGrid>
              <a:tr h="642396">
                <a:tc>
                  <a:txBody>
                    <a:bodyPr/>
                    <a:lstStyle/>
                    <a:p>
                      <a:pPr lvl="0" algn="just" rtl="0">
                        <a:lnSpc>
                          <a:spcPts val="1552"/>
                        </a:lnSpc>
                        <a:buNone/>
                      </a:pPr>
                      <a:r>
                        <a:rPr lang="en-US" sz="1600" b="1" i="0" cap="all" spc="60">
                          <a:solidFill>
                            <a:schemeClr val="tx1"/>
                          </a:solidFill>
                          <a:effectLst/>
                          <a:latin typeface="Cambria"/>
                        </a:rPr>
                        <a:t>Echelle</a:t>
                      </a:r>
                      <a:endParaRPr lang="en-US" sz="1600" b="1" i="0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113436" marB="11343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1600" b="1" i="0" cap="all" spc="60">
                          <a:solidFill>
                            <a:schemeClr val="tx1"/>
                          </a:solidFill>
                          <a:effectLst/>
                          <a:latin typeface="Cambria"/>
                        </a:rPr>
                        <a:t>DEFINITION</a:t>
                      </a:r>
                    </a:p>
                  </a:txBody>
                  <a:tcPr marL="82714" marR="82714" marT="113436" marB="11343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485716"/>
                  </a:ext>
                </a:extLst>
              </a:tr>
              <a:tr h="1099484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1600" b="0" i="0" cap="none" spc="0">
                          <a:solidFill>
                            <a:schemeClr val="tx1"/>
                          </a:solidFill>
                          <a:effectLst/>
                          <a:latin typeface="Cambria"/>
                        </a:rPr>
                        <a:t>4 - CRITIQUE</a:t>
                      </a:r>
                      <a:r>
                        <a:rPr lang="en-US" sz="1600" b="0" i="0" cap="none" spc="0" dirty="0">
                          <a:solidFill>
                            <a:schemeClr val="tx1"/>
                          </a:solidFill>
                          <a:effectLst/>
                          <a:latin typeface="Cambria"/>
                        </a:rPr>
                        <a:t> </a:t>
                      </a:r>
                    </a:p>
                  </a:txBody>
                  <a:tcPr marL="82714" marR="82714" marT="56718" marB="113436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Les impacts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découlant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de la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réalisation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de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l‘événement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redouté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peut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conduire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à la</a:t>
                      </a:r>
                      <a:endParaRPr lang="en-US" sz="1600"/>
                    </a:p>
                    <a:p>
                      <a:pPr lvl="0" algn="just">
                        <a:lnSpc>
                          <a:spcPts val="1552"/>
                        </a:lnSpc>
                        <a:buNone/>
                      </a:pP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création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d’identités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erronées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ou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à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l’usurpation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d’identité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sz="1600" b="0" i="0" u="none" strike="noStrike" cap="none" spc="0" noProof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863719"/>
                  </a:ext>
                </a:extLst>
              </a:tr>
              <a:tr h="1099484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1600" b="0" i="0" cap="none" spc="0">
                          <a:solidFill>
                            <a:schemeClr val="tx1"/>
                          </a:solidFill>
                          <a:effectLst/>
                          <a:latin typeface="Cambria"/>
                        </a:rPr>
                        <a:t>3 - GRAVE </a:t>
                      </a:r>
                      <a:endParaRPr lang="en-US" sz="1600" b="0" i="0" cap="none" spc="0" dirty="0">
                        <a:solidFill>
                          <a:schemeClr val="tx1"/>
                        </a:solidFill>
                        <a:effectLst/>
                        <a:latin typeface="Cambria"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Les impacts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découlant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de la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réalisation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de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l’événement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redouté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ne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permettent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pas à</a:t>
                      </a:r>
                      <a:endParaRPr lang="en-US" sz="1600"/>
                    </a:p>
                    <a:p>
                      <a:pPr lvl="0" algn="just">
                        <a:lnSpc>
                          <a:spcPts val="1552"/>
                        </a:lnSpc>
                        <a:buNone/>
                      </a:pP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l’organisation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de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réaliser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tout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ou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partie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de son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activité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sz="1600" b="0" i="0" u="none" strike="noStrike" cap="none" spc="0" noProof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1557"/>
                  </a:ext>
                </a:extLst>
              </a:tr>
              <a:tr h="1099484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1600" b="0" i="0" cap="none" spc="0">
                          <a:solidFill>
                            <a:schemeClr val="tx1"/>
                          </a:solidFill>
                          <a:effectLst/>
                          <a:latin typeface="Cambria"/>
                        </a:rPr>
                        <a:t>2 - SIGNIFICATIVE</a:t>
                      </a:r>
                      <a:endParaRPr lang="en-US" sz="1600" b="0" i="0" cap="none" spc="0" dirty="0">
                        <a:solidFill>
                          <a:schemeClr val="tx1"/>
                        </a:solidFill>
                        <a:effectLst/>
                        <a:latin typeface="Cambria"/>
                      </a:endParaRPr>
                    </a:p>
                  </a:txBody>
                  <a:tcPr marL="82714" marR="82714" marT="56718" marB="113436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Les impacts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découlant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de la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réalisation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de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l‘événement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redouté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sont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significatifs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sur les</a:t>
                      </a:r>
                      <a:endParaRPr lang="en-US" sz="1600"/>
                    </a:p>
                    <a:p>
                      <a:pPr lvl="0" algn="just">
                        <a:lnSpc>
                          <a:spcPts val="1552"/>
                        </a:lnSpc>
                        <a:buNone/>
                      </a:pP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performances de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l’activité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dégradation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des performances) </a:t>
                      </a:r>
                      <a:endParaRPr lang="en-US" sz="1600" b="0" i="0" u="none" strike="noStrike" cap="none" spc="0" noProof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9569"/>
                  </a:ext>
                </a:extLst>
              </a:tr>
              <a:tr h="1470101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1600" b="0" i="0" cap="none" spc="0">
                          <a:solidFill>
                            <a:schemeClr val="tx1"/>
                          </a:solidFill>
                          <a:effectLst/>
                          <a:latin typeface="Cambria"/>
                        </a:rPr>
                        <a:t>1 - MINEURE</a:t>
                      </a:r>
                      <a:endParaRPr lang="en-US" sz="1600" b="0" i="0" cap="none" spc="0" dirty="0">
                        <a:solidFill>
                          <a:schemeClr val="tx1"/>
                        </a:solidFill>
                        <a:effectLst/>
                        <a:latin typeface="Cambria"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Les impacts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découlant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de la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réalisation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de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l’événement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redouté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sont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négligeables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(des</a:t>
                      </a:r>
                      <a:endParaRPr lang="en-US" sz="1600"/>
                    </a:p>
                    <a:p>
                      <a:pPr lvl="0" algn="just">
                        <a:lnSpc>
                          <a:spcPts val="1552"/>
                        </a:lnSpc>
                        <a:buNone/>
                      </a:pP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solutions de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contournement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existent et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sont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600" b="0" i="0" u="none" strike="noStrike" cap="none" spc="0" noProof="0" dirty="0" err="1">
                          <a:solidFill>
                            <a:schemeClr val="tx1"/>
                          </a:solidFill>
                          <a:effectLst/>
                        </a:rPr>
                        <a:t>efficaces</a:t>
                      </a: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</a:rPr>
                        <a:t>) </a:t>
                      </a:r>
                      <a:endParaRPr lang="en-US" sz="1600" b="0" i="0" u="none" strike="noStrike" cap="none" spc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69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071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Matrice des risques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3EBD506-6732-B41B-7553-859080CF57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2600" y="1946951"/>
          <a:ext cx="8178800" cy="385075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726444">
                  <a:extLst>
                    <a:ext uri="{9D8B030D-6E8A-4147-A177-3AD203B41FA5}">
                      <a16:colId xmlns:a16="http://schemas.microsoft.com/office/drawing/2014/main" val="4130759809"/>
                    </a:ext>
                  </a:extLst>
                </a:gridCol>
                <a:gridCol w="1217859">
                  <a:extLst>
                    <a:ext uri="{9D8B030D-6E8A-4147-A177-3AD203B41FA5}">
                      <a16:colId xmlns:a16="http://schemas.microsoft.com/office/drawing/2014/main" val="3321523027"/>
                    </a:ext>
                  </a:extLst>
                </a:gridCol>
                <a:gridCol w="1985521">
                  <a:extLst>
                    <a:ext uri="{9D8B030D-6E8A-4147-A177-3AD203B41FA5}">
                      <a16:colId xmlns:a16="http://schemas.microsoft.com/office/drawing/2014/main" val="248285748"/>
                    </a:ext>
                  </a:extLst>
                </a:gridCol>
                <a:gridCol w="1248976">
                  <a:extLst>
                    <a:ext uri="{9D8B030D-6E8A-4147-A177-3AD203B41FA5}">
                      <a16:colId xmlns:a16="http://schemas.microsoft.com/office/drawing/2014/main" val="2188386952"/>
                    </a:ext>
                  </a:extLst>
                </a:gridCol>
              </a:tblGrid>
              <a:tr h="756476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1500" b="1" i="0" cap="all" spc="6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Risque </a:t>
                      </a:r>
                      <a:endParaRPr lang="en-US" sz="1500" b="1" i="0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113436" marB="11343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1500" b="1" i="0" cap="all" spc="6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Gravité </a:t>
                      </a:r>
                      <a:endParaRPr lang="en-US" sz="1500" b="1" i="0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113436" marB="11343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1500" b="1" i="0" cap="all" spc="6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 </a:t>
                      </a:r>
                    </a:p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1500" b="1" i="0" cap="all" spc="6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Vraisemblance </a:t>
                      </a:r>
                      <a:endParaRPr lang="en-US" sz="1500" b="1" i="0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113436" marB="11343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1500" b="1" i="0" cap="all" spc="6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Niveau </a:t>
                      </a:r>
                      <a:endParaRPr lang="en-US" sz="1500" b="1" i="0" cap="all" spc="6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113436" marB="11343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485716"/>
                  </a:ext>
                </a:extLst>
              </a:tr>
              <a:tr h="467608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R1 fuite de données clients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4 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4 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Critique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863719"/>
                  </a:ext>
                </a:extLst>
              </a:tr>
              <a:tr h="467608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R2 indisponibilité par DDoS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3 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3 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Élevé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1557"/>
                  </a:ext>
                </a:extLst>
              </a:tr>
              <a:tr h="719687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R3 vol / détournement de scooters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3 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3 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Élevé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9569"/>
                  </a:ext>
                </a:extLst>
              </a:tr>
              <a:tr h="719687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R4 compromission via tiers critique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3 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2 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Moyen à élevé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69107"/>
                  </a:ext>
                </a:extLst>
              </a:tr>
              <a:tr h="719687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R5 exposition interne de données de test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3 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3 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552"/>
                        </a:lnSpc>
                        <a:buNone/>
                      </a:pPr>
                      <a:r>
                        <a:rPr lang="en-US" sz="2000" b="0" i="0" cap="none" spc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Élevé </a:t>
                      </a:r>
                      <a:endParaRPr lang="en-US" sz="20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2714" marR="82714" marT="56718" marB="11343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1799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DevSecOps</a:t>
            </a:r>
          </a:p>
          <a:p>
            <a:r>
              <a:t>Chiffrement</a:t>
            </a:r>
          </a:p>
          <a:p>
            <a:r>
              <a:t>Monitoring</a:t>
            </a:r>
          </a:p>
          <a:p>
            <a:r>
              <a:t>SOC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Risque principal : données</a:t>
            </a:r>
          </a:p>
          <a:p>
            <a:r>
              <a:t>Priorité : sécurisation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Contexte</vt:lpstr>
      <vt:lpstr>Périmètre</vt:lpstr>
      <vt:lpstr>Risques principaux</vt:lpstr>
      <vt:lpstr>Méthode EBIOS RM</vt:lpstr>
      <vt:lpstr>Menaces</vt:lpstr>
      <vt:lpstr>Scénarios</vt:lpstr>
      <vt:lpstr>Scénarios</vt:lpstr>
      <vt:lpstr>Scénarios</vt:lpstr>
      <vt:lpstr>Scénarios</vt:lpstr>
      <vt:lpstr> Échelle de gravité validée pour le projet  </vt:lpstr>
      <vt:lpstr>Matrice des risques</vt:lpstr>
      <vt:lpstr>Mesures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143</cp:revision>
  <dcterms:created xsi:type="dcterms:W3CDTF">2013-01-27T09:14:16Z</dcterms:created>
  <dcterms:modified xsi:type="dcterms:W3CDTF">2026-04-01T09:27:08Z</dcterms:modified>
  <cp:category/>
</cp:coreProperties>
</file>